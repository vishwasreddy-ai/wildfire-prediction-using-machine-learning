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9"/>
  </p:notesMasterIdLst>
  <p:sldIdLst>
    <p:sldId id="256" r:id="rId2"/>
    <p:sldId id="287" r:id="rId3"/>
    <p:sldId id="258" r:id="rId4"/>
    <p:sldId id="272" r:id="rId5"/>
    <p:sldId id="290" r:id="rId6"/>
    <p:sldId id="297" r:id="rId7"/>
    <p:sldId id="274" r:id="rId8"/>
    <p:sldId id="276" r:id="rId9"/>
    <p:sldId id="277" r:id="rId10"/>
    <p:sldId id="292" r:id="rId11"/>
    <p:sldId id="280" r:id="rId12"/>
    <p:sldId id="298" r:id="rId13"/>
    <p:sldId id="299" r:id="rId14"/>
    <p:sldId id="301" r:id="rId15"/>
    <p:sldId id="305" r:id="rId16"/>
    <p:sldId id="304" r:id="rId17"/>
    <p:sldId id="303"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018F8-684C-4949-AFBB-6D3B47F987D8}"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4660"/>
  </p:normalViewPr>
  <p:slideViewPr>
    <p:cSldViewPr snapToGrid="0" showGuides="1">
      <p:cViewPr varScale="1">
        <p:scale>
          <a:sx n="78" d="100"/>
          <a:sy n="78" d="100"/>
        </p:scale>
        <p:origin x="1109"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2" name="Google Shape;10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18" name="Google Shape;11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3</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4</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5</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45103-3C0E-82FB-7AD1-BDAADFC57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FB4643-B594-A003-279C-2579B2BDE68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C6A14B1-9FF1-6FAC-5692-C5326BD9827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AC255CC-804E-79C3-C18D-0ED1FC42F701}"/>
              </a:ext>
            </a:extLst>
          </p:cNvPr>
          <p:cNvSpPr>
            <a:spLocks noGrp="1"/>
          </p:cNvSpPr>
          <p:nvPr>
            <p:ph type="sldNum" sz="quarter" idx="10"/>
          </p:nvPr>
        </p:nvSpPr>
        <p:spPr/>
        <p:txBody>
          <a:bodyPr/>
          <a:lstStyle/>
          <a:p>
            <a:fld id="{74B619BE-95E0-4293-B64B-49B0F5D4CEDD}" type="slidenum">
              <a:rPr lang="en-IN" smtClean="0"/>
              <a:t>6</a:t>
            </a:fld>
            <a:endParaRPr lang="en-IN"/>
          </a:p>
        </p:txBody>
      </p:sp>
    </p:spTree>
    <p:extLst>
      <p:ext uri="{BB962C8B-B14F-4D97-AF65-F5344CB8AC3E}">
        <p14:creationId xmlns:p14="http://schemas.microsoft.com/office/powerpoint/2010/main" val="2551372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7</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8</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9</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10</a:t>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11</a:t>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8BC4A-49B7-CDE5-A497-EAFFFDF56C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CBB4F6-C682-3EEA-F6F5-99ED8D39856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6EB90CB-77B7-9232-AC69-80D410232DE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08C4F92-532E-6CF8-6535-0C1D7BBA555D}"/>
              </a:ext>
            </a:extLst>
          </p:cNvPr>
          <p:cNvSpPr>
            <a:spLocks noGrp="1"/>
          </p:cNvSpPr>
          <p:nvPr>
            <p:ph type="sldNum" sz="quarter" idx="10"/>
          </p:nvPr>
        </p:nvSpPr>
        <p:spPr/>
        <p:txBody>
          <a:bodyPr/>
          <a:lstStyle/>
          <a:p>
            <a:fld id="{74B619BE-95E0-4293-B64B-49B0F5D4CEDD}" type="slidenum">
              <a:rPr lang="en-IN" smtClean="0"/>
              <a:t>12</a:t>
            </a:fld>
            <a:endParaRPr lang="en-IN"/>
          </a:p>
        </p:txBody>
      </p:sp>
    </p:spTree>
    <p:extLst>
      <p:ext uri="{BB962C8B-B14F-4D97-AF65-F5344CB8AC3E}">
        <p14:creationId xmlns:p14="http://schemas.microsoft.com/office/powerpoint/2010/main" val="3820538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87968-723D-B3A0-A085-F76174526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73D2D-468B-C0E9-2439-97B1BA5DFEB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C65DF61-D749-0EDE-1AC0-10EC089C01A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2B82289-25E2-F9E6-614F-8A7092801D47}"/>
              </a:ext>
            </a:extLst>
          </p:cNvPr>
          <p:cNvSpPr>
            <a:spLocks noGrp="1"/>
          </p:cNvSpPr>
          <p:nvPr>
            <p:ph type="sldNum" sz="quarter" idx="10"/>
          </p:nvPr>
        </p:nvSpPr>
        <p:spPr/>
        <p:txBody>
          <a:bodyPr/>
          <a:lstStyle/>
          <a:p>
            <a:fld id="{74B619BE-95E0-4293-B64B-49B0F5D4CEDD}" type="slidenum">
              <a:rPr lang="en-IN" smtClean="0"/>
              <a:t>13</a:t>
            </a:fld>
            <a:endParaRPr lang="en-IN"/>
          </a:p>
        </p:txBody>
      </p:sp>
    </p:spTree>
    <p:extLst>
      <p:ext uri="{BB962C8B-B14F-4D97-AF65-F5344CB8AC3E}">
        <p14:creationId xmlns:p14="http://schemas.microsoft.com/office/powerpoint/2010/main" val="1014914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C84BC-1495-A397-D6A3-7675931354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98C973-583A-6F3D-D4F9-7D09317F25A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2A36E6E-25DA-AC31-AF6E-ADD670AD4B9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132153-37EB-E5C7-762B-DEACF35063D5}"/>
              </a:ext>
            </a:extLst>
          </p:cNvPr>
          <p:cNvSpPr>
            <a:spLocks noGrp="1"/>
          </p:cNvSpPr>
          <p:nvPr>
            <p:ph type="sldNum" sz="quarter" idx="10"/>
          </p:nvPr>
        </p:nvSpPr>
        <p:spPr/>
        <p:txBody>
          <a:bodyPr/>
          <a:lstStyle/>
          <a:p>
            <a:fld id="{74B619BE-95E0-4293-B64B-49B0F5D4CEDD}" type="slidenum">
              <a:rPr lang="en-IN" smtClean="0"/>
              <a:t>14</a:t>
            </a:fld>
            <a:endParaRPr lang="en-IN"/>
          </a:p>
        </p:txBody>
      </p:sp>
    </p:spTree>
    <p:extLst>
      <p:ext uri="{BB962C8B-B14F-4D97-AF65-F5344CB8AC3E}">
        <p14:creationId xmlns:p14="http://schemas.microsoft.com/office/powerpoint/2010/main" val="15095120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C603A-8061-D3F2-B68D-31515679F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13C907-B6AE-0B61-B90C-335C4DA0169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60FA221-2B17-D2D6-8795-9A301F9F6A0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F628239-F75A-B89A-3618-9F14BE0BA97C}"/>
              </a:ext>
            </a:extLst>
          </p:cNvPr>
          <p:cNvSpPr>
            <a:spLocks noGrp="1"/>
          </p:cNvSpPr>
          <p:nvPr>
            <p:ph type="sldNum" sz="quarter" idx="10"/>
          </p:nvPr>
        </p:nvSpPr>
        <p:spPr/>
        <p:txBody>
          <a:bodyPr/>
          <a:lstStyle/>
          <a:p>
            <a:fld id="{74B619BE-95E0-4293-B64B-49B0F5D4CEDD}" type="slidenum">
              <a:rPr lang="en-IN" smtClean="0"/>
              <a:t>15</a:t>
            </a:fld>
            <a:endParaRPr lang="en-IN"/>
          </a:p>
        </p:txBody>
      </p:sp>
    </p:spTree>
    <p:extLst>
      <p:ext uri="{BB962C8B-B14F-4D97-AF65-F5344CB8AC3E}">
        <p14:creationId xmlns:p14="http://schemas.microsoft.com/office/powerpoint/2010/main" val="327165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C7A6D-B07A-80D0-FCDA-9BA45C96F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9E145-D95C-44EE-83C2-CF788792E21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E19758D-F147-381A-8AFE-77A9C796EBC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33A2B6A-D0B6-221F-351D-49837D2C96FA}"/>
              </a:ext>
            </a:extLst>
          </p:cNvPr>
          <p:cNvSpPr>
            <a:spLocks noGrp="1"/>
          </p:cNvSpPr>
          <p:nvPr>
            <p:ph type="sldNum" sz="quarter" idx="10"/>
          </p:nvPr>
        </p:nvSpPr>
        <p:spPr/>
        <p:txBody>
          <a:bodyPr/>
          <a:lstStyle/>
          <a:p>
            <a:fld id="{74B619BE-95E0-4293-B64B-49B0F5D4CEDD}" type="slidenum">
              <a:rPr lang="en-IN" smtClean="0"/>
              <a:t>16</a:t>
            </a:fld>
            <a:endParaRPr lang="en-IN"/>
          </a:p>
        </p:txBody>
      </p:sp>
    </p:spTree>
    <p:extLst>
      <p:ext uri="{BB962C8B-B14F-4D97-AF65-F5344CB8AC3E}">
        <p14:creationId xmlns:p14="http://schemas.microsoft.com/office/powerpoint/2010/main" val="2886851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779AD-0BAC-D00E-2EB5-01BB18886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39BCD-AD76-A9E1-F542-59A204BD641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426F524-A16D-BC0B-73AC-598D1A6985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35EE23B-B026-9C50-ACF1-FB883BD65485}"/>
              </a:ext>
            </a:extLst>
          </p:cNvPr>
          <p:cNvSpPr>
            <a:spLocks noGrp="1"/>
          </p:cNvSpPr>
          <p:nvPr>
            <p:ph type="sldNum" sz="quarter" idx="10"/>
          </p:nvPr>
        </p:nvSpPr>
        <p:spPr/>
        <p:txBody>
          <a:bodyPr/>
          <a:lstStyle/>
          <a:p>
            <a:fld id="{74B619BE-95E0-4293-B64B-49B0F5D4CEDD}" type="slidenum">
              <a:rPr lang="en-IN" smtClean="0"/>
              <a:t>17</a:t>
            </a:fld>
            <a:endParaRPr lang="en-IN"/>
          </a:p>
        </p:txBody>
      </p:sp>
    </p:spTree>
    <p:extLst>
      <p:ext uri="{BB962C8B-B14F-4D97-AF65-F5344CB8AC3E}">
        <p14:creationId xmlns:p14="http://schemas.microsoft.com/office/powerpoint/2010/main" val="422281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4"/>
          <p:cNvSpPr/>
          <p:nvPr/>
        </p:nvSpPr>
        <p:spPr>
          <a:xfrm>
            <a:off x="3175" y="6400800"/>
            <a:ext cx="12188825" cy="457200"/>
          </a:xfrm>
          <a:prstGeom prst="rect">
            <a:avLst/>
          </a:pr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15" y="6334316"/>
            <a:ext cx="12188825" cy="64008"/>
          </a:xfrm>
          <a:prstGeom prst="rect">
            <a:avLst/>
          </a:pr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panose="020F0502020204030204"/>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4"/>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panose="020F0502020204030204"/>
                <a:ea typeface="Calibri" panose="020F0502020204030204"/>
                <a:cs typeface="Calibri" panose="020F0502020204030204"/>
                <a:sym typeface="Calibri" panose="020F0502020204030204"/>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3" name="Google Shape;23;p4"/>
          <p:cNvSpPr txBox="1">
            <a:spLocks noGrp="1"/>
          </p:cNvSpPr>
          <p:nvPr>
            <p:ph type="dt" idx="10"/>
          </p:nvPr>
        </p:nvSpPr>
        <p:spPr>
          <a:xfrm>
            <a:off x="1097280" y="6459785"/>
            <a:ext cx="2472271" cy="365125"/>
          </a:xfrm>
          <a:prstGeom prst="rect">
            <a:avLst/>
          </a:prstGeom>
          <a:solidFill>
            <a:srgbClr val="0070C0"/>
          </a:solid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
          <p:cNvSpPr txBox="1">
            <a:spLocks noGrp="1"/>
          </p:cNvSpPr>
          <p:nvPr>
            <p:ph type="ftr" idx="11"/>
          </p:nvPr>
        </p:nvSpPr>
        <p:spPr>
          <a:xfrm>
            <a:off x="3686185" y="6459785"/>
            <a:ext cx="4822804" cy="365125"/>
          </a:xfrm>
          <a:prstGeom prst="rect">
            <a:avLst/>
          </a:prstGeom>
          <a:solidFill>
            <a:srgbClr val="0070C0"/>
          </a:solid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sldNum" idx="12"/>
          </p:nvPr>
        </p:nvSpPr>
        <p:spPr>
          <a:xfrm>
            <a:off x="9900458" y="6459785"/>
            <a:ext cx="1312025" cy="365125"/>
          </a:xfrm>
          <a:prstGeom prst="rect">
            <a:avLst/>
          </a:prstGeom>
          <a:solidFill>
            <a:srgbClr val="0070C0"/>
          </a:solid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2"/>
        <p:cNvGrpSpPr/>
        <p:nvPr/>
      </p:nvGrpSpPr>
      <p:grpSpPr>
        <a:xfrm>
          <a:off x="0" y="0"/>
          <a:ext cx="0" cy="0"/>
          <a:chOff x="0" y="0"/>
          <a:chExt cx="0" cy="0"/>
        </a:xfrm>
      </p:grpSpPr>
      <p:sp>
        <p:nvSpPr>
          <p:cNvPr id="93" name="Google Shape;93;p1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4"/>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14"/>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7" name="Google Shape;97;p1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3"/>
          <p:cNvSpPr/>
          <p:nvPr/>
        </p:nvSpPr>
        <p:spPr>
          <a:xfrm>
            <a:off x="0" y="6334316"/>
            <a:ext cx="12192000" cy="659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panose="020F0502020204030204"/>
              <a:buNone/>
              <a:defRPr sz="4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panose="020F0502020204030204"/>
              <a:buChar char=" "/>
              <a:defRPr sz="20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1pPr>
            <a:lvl2pPr marL="914400" marR="0" lvl="1" indent="-342900" algn="l" rtl="0">
              <a:lnSpc>
                <a:spcPct val="90000"/>
              </a:lnSpc>
              <a:spcBef>
                <a:spcPts val="200"/>
              </a:spcBef>
              <a:spcAft>
                <a:spcPts val="0"/>
              </a:spcAft>
              <a:buClr>
                <a:schemeClr val="accent1"/>
              </a:buClr>
              <a:buSzPts val="1800"/>
              <a:buFont typeface="Calibri" panose="020F0502020204030204"/>
              <a:buChar char="◦"/>
              <a:defRPr sz="1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2pPr>
            <a:lvl3pPr marL="1371600" marR="0" lvl="2"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3pPr>
            <a:lvl4pPr marL="1828800" marR="0" lvl="3"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4pPr>
            <a:lvl5pPr marL="2286000" marR="0" lvl="4"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5pPr>
            <a:lvl6pPr marL="2743200" marR="0" lvl="5"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6pPr>
            <a:lvl7pPr marL="3200400" marR="0" lvl="6"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7pPr>
            <a:lvl8pPr marL="3657600" marR="0" lvl="7"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8pPr>
            <a:lvl9pPr marL="4114800" marR="0" lvl="8" indent="-317500" algn="l" rtl="0">
              <a:lnSpc>
                <a:spcPct val="90000"/>
              </a:lnSpc>
              <a:spcBef>
                <a:spcPts val="400"/>
              </a:spcBef>
              <a:spcAft>
                <a:spcPts val="40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5" name="Google Shape;15;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6" name="Google Shape;16;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cxnSp>
        <p:nvCxnSpPr>
          <p:cNvPr id="17" name="Google Shape;17;p3"/>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2"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jp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jp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9.jp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0.jp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a:spLocks noGrp="1"/>
          </p:cNvSpPr>
          <p:nvPr>
            <p:ph type="sldNum" idx="12"/>
          </p:nvPr>
        </p:nvSpPr>
        <p:spPr>
          <a:xfrm>
            <a:off x="10456832" y="6386173"/>
            <a:ext cx="1312025" cy="365125"/>
          </a:xfrm>
          <a:prstGeom prst="rect">
            <a:avLst/>
          </a:prstGeom>
          <a:solidFill>
            <a:srgbClr val="0070C0"/>
          </a:solid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a:t>1</a:t>
            </a:fld>
            <a:endParaRPr sz="2000"/>
          </a:p>
        </p:txBody>
      </p:sp>
      <p:sp>
        <p:nvSpPr>
          <p:cNvPr id="106" name="Google Shape;106;p1"/>
          <p:cNvSpPr txBox="1">
            <a:spLocks noGrp="1"/>
          </p:cNvSpPr>
          <p:nvPr>
            <p:ph type="ftr" idx="11"/>
          </p:nvPr>
        </p:nvSpPr>
        <p:spPr>
          <a:xfrm>
            <a:off x="1069431" y="6386173"/>
            <a:ext cx="9136023" cy="356382"/>
          </a:xfrm>
          <a:prstGeom prst="rect">
            <a:avLst/>
          </a:prstGeom>
          <a:solidFill>
            <a:srgbClr val="0070C0"/>
          </a:solid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000"/>
              <a:t>DEPARTMENT OF COMPUTER SCIENCE AND ENGINEERING</a:t>
            </a:r>
            <a:endParaRPr sz="2000"/>
          </a:p>
        </p:txBody>
      </p:sp>
      <p:pic>
        <p:nvPicPr>
          <p:cNvPr id="107" name="Google Shape;107;p1"/>
          <p:cNvPicPr preferRelativeResize="0"/>
          <p:nvPr/>
        </p:nvPicPr>
        <p:blipFill rotWithShape="1">
          <a:blip r:embed="rId3"/>
          <a:srcRect/>
          <a:stretch>
            <a:fillRect/>
          </a:stretch>
        </p:blipFill>
        <p:spPr>
          <a:xfrm>
            <a:off x="8721665" y="37033"/>
            <a:ext cx="3470335" cy="689927"/>
          </a:xfrm>
          <a:prstGeom prst="rect">
            <a:avLst/>
          </a:prstGeom>
          <a:noFill/>
          <a:ln>
            <a:noFill/>
          </a:ln>
        </p:spPr>
      </p:pic>
      <p:pic>
        <p:nvPicPr>
          <p:cNvPr id="108" name="Google Shape;108;p1"/>
          <p:cNvPicPr preferRelativeResize="0"/>
          <p:nvPr/>
        </p:nvPicPr>
        <p:blipFill rotWithShape="1">
          <a:blip r:embed="rId4"/>
          <a:srcRect/>
          <a:stretch>
            <a:fillRect/>
          </a:stretch>
        </p:blipFill>
        <p:spPr>
          <a:xfrm>
            <a:off x="0" y="5704366"/>
            <a:ext cx="1153634" cy="1153634"/>
          </a:xfrm>
          <a:prstGeom prst="rect">
            <a:avLst/>
          </a:prstGeom>
          <a:noFill/>
          <a:ln>
            <a:noFill/>
          </a:ln>
        </p:spPr>
      </p:pic>
      <p:graphicFrame>
        <p:nvGraphicFramePr>
          <p:cNvPr id="109" name="Google Shape;109;p1"/>
          <p:cNvGraphicFramePr/>
          <p:nvPr>
            <p:extLst>
              <p:ext uri="{D42A27DB-BD31-4B8C-83A1-F6EECF244321}">
                <p14:modId xmlns:p14="http://schemas.microsoft.com/office/powerpoint/2010/main" val="1958192182"/>
              </p:ext>
            </p:extLst>
          </p:nvPr>
        </p:nvGraphicFramePr>
        <p:xfrm>
          <a:off x="959207" y="2603529"/>
          <a:ext cx="10809650" cy="2859468"/>
        </p:xfrm>
        <a:graphic>
          <a:graphicData uri="http://schemas.openxmlformats.org/drawingml/2006/table">
            <a:tbl>
              <a:tblPr>
                <a:noFill/>
                <a:tableStyleId>{21E018F8-684C-4949-AFBB-6D3B47F987D8}</a:tableStyleId>
              </a:tblPr>
              <a:tblGrid>
                <a:gridCol w="1131375">
                  <a:extLst>
                    <a:ext uri="{9D8B030D-6E8A-4147-A177-3AD203B41FA5}">
                      <a16:colId xmlns:a16="http://schemas.microsoft.com/office/drawing/2014/main" val="20000"/>
                    </a:ext>
                  </a:extLst>
                </a:gridCol>
                <a:gridCol w="3705025">
                  <a:extLst>
                    <a:ext uri="{9D8B030D-6E8A-4147-A177-3AD203B41FA5}">
                      <a16:colId xmlns:a16="http://schemas.microsoft.com/office/drawing/2014/main" val="20001"/>
                    </a:ext>
                  </a:extLst>
                </a:gridCol>
                <a:gridCol w="5973250">
                  <a:extLst>
                    <a:ext uri="{9D8B030D-6E8A-4147-A177-3AD203B41FA5}">
                      <a16:colId xmlns:a16="http://schemas.microsoft.com/office/drawing/2014/main" val="20002"/>
                    </a:ext>
                  </a:extLst>
                </a:gridCol>
              </a:tblGrid>
              <a:tr h="378150">
                <a:tc>
                  <a:txBody>
                    <a:bodyPr/>
                    <a:lstStyle/>
                    <a:p>
                      <a:pPr marL="0" marR="0" lvl="0" indent="0" algn="ctr" rtl="0">
                        <a:lnSpc>
                          <a:spcPct val="115000"/>
                        </a:lnSpc>
                        <a:spcBef>
                          <a:spcPts val="0"/>
                        </a:spcBef>
                        <a:spcAft>
                          <a:spcPts val="0"/>
                        </a:spcAft>
                        <a:buNone/>
                      </a:pPr>
                      <a:r>
                        <a:rPr lang="en-US" sz="2400" b="1" u="none" strike="noStrike" cap="none" dirty="0">
                          <a:latin typeface="Times New Roman" panose="02020603050405020304"/>
                          <a:ea typeface="Times New Roman" panose="02020603050405020304"/>
                          <a:cs typeface="Times New Roman" panose="02020603050405020304"/>
                          <a:sym typeface="Times New Roman" panose="02020603050405020304"/>
                        </a:rPr>
                        <a:t>S. No.</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dirty="0">
                          <a:latin typeface="Times New Roman" panose="02020603050405020304"/>
                          <a:ea typeface="Times New Roman" panose="02020603050405020304"/>
                          <a:cs typeface="Times New Roman" panose="02020603050405020304"/>
                          <a:sym typeface="Times New Roman" panose="02020603050405020304"/>
                        </a:rPr>
                        <a:t>Register number</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panose="02020603050405020304"/>
                          <a:ea typeface="Times New Roman" panose="02020603050405020304"/>
                          <a:cs typeface="Times New Roman" panose="02020603050405020304"/>
                          <a:sym typeface="Times New Roman" panose="02020603050405020304"/>
                        </a:rPr>
                        <a:t>Name of the Student</a:t>
                      </a:r>
                      <a:endParaRPr sz="2400" u="none" strike="noStrike" cap="none">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4400">
                <a:tc>
                  <a:txBody>
                    <a:bodyPr/>
                    <a:lstStyle/>
                    <a:p>
                      <a:pPr marL="0" marR="0" lvl="0" indent="0" algn="ctr" rtl="0">
                        <a:lnSpc>
                          <a:spcPct val="115000"/>
                        </a:lnSpc>
                        <a:spcBef>
                          <a:spcPts val="0"/>
                        </a:spcBef>
                        <a:spcAft>
                          <a:spcPts val="0"/>
                        </a:spcAft>
                        <a:buNone/>
                      </a:pPr>
                      <a:r>
                        <a:rPr lang="en-US" sz="2400" u="none" strike="noStrike" cap="none">
                          <a:latin typeface="Times New Roman" panose="02020603050405020304"/>
                          <a:ea typeface="Times New Roman" panose="02020603050405020304"/>
                          <a:cs typeface="Times New Roman" panose="02020603050405020304"/>
                          <a:sym typeface="Times New Roman" panose="02020603050405020304"/>
                        </a:rPr>
                        <a:t>1</a:t>
                      </a:r>
                      <a:endParaRPr sz="2400" u="none" strike="noStrike" cap="none">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U22CS071</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B. MANIKANTA REDDY</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30350">
                <a:tc>
                  <a:txBody>
                    <a:bodyPr/>
                    <a:lstStyle/>
                    <a:p>
                      <a:pPr marL="0" marR="0" lvl="0" indent="0" algn="ctr" rtl="0">
                        <a:lnSpc>
                          <a:spcPct val="115000"/>
                        </a:lnSpc>
                        <a:spcBef>
                          <a:spcPts val="0"/>
                        </a:spcBef>
                        <a:spcAft>
                          <a:spcPts val="0"/>
                        </a:spcAft>
                        <a:buNone/>
                      </a:pPr>
                      <a:r>
                        <a:rPr lang="en-US" sz="2400" u="none" strike="noStrike" cap="none">
                          <a:latin typeface="Times New Roman" panose="02020603050405020304"/>
                          <a:ea typeface="Times New Roman" panose="02020603050405020304"/>
                          <a:cs typeface="Times New Roman" panose="02020603050405020304"/>
                          <a:sym typeface="Times New Roman" panose="02020603050405020304"/>
                        </a:rPr>
                        <a:t>2</a:t>
                      </a:r>
                      <a:endParaRPr sz="2400" u="none" strike="noStrike" cap="none">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U22CS035</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A. NARENDRA</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30350">
                <a:tc>
                  <a:txBody>
                    <a:bodyPr/>
                    <a:lstStyle/>
                    <a:p>
                      <a:pPr marL="0" marR="0" lvl="0" indent="0" algn="ctr" rtl="0">
                        <a:lnSpc>
                          <a:spcPct val="115000"/>
                        </a:lnSpc>
                        <a:spcBef>
                          <a:spcPts val="0"/>
                        </a:spcBef>
                        <a:spcAft>
                          <a:spcPts val="0"/>
                        </a:spcAft>
                        <a:buNone/>
                      </a:pPr>
                      <a:r>
                        <a:rPr lang="en-US" sz="2400" u="none" strike="noStrike" cap="none">
                          <a:latin typeface="Times New Roman" panose="02020603050405020304"/>
                          <a:ea typeface="Times New Roman" panose="02020603050405020304"/>
                          <a:cs typeface="Times New Roman" panose="02020603050405020304"/>
                          <a:sym typeface="Times New Roman" panose="02020603050405020304"/>
                        </a:rPr>
                        <a:t>3</a:t>
                      </a:r>
                      <a:endParaRPr sz="2400" u="none" strike="noStrike" cap="none">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U22CS067</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B.VISHWAS REDDY</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30350">
                <a:tc>
                  <a:txBody>
                    <a:bodyPr/>
                    <a:lstStyle/>
                    <a:p>
                      <a:pPr marL="0" marR="0" lvl="0" indent="0" algn="ctr" rtl="0">
                        <a:lnSpc>
                          <a:spcPct val="115000"/>
                        </a:lnSpc>
                        <a:spcBef>
                          <a:spcPts val="0"/>
                        </a:spcBef>
                        <a:spcAft>
                          <a:spcPts val="0"/>
                        </a:spcAft>
                        <a:buNone/>
                      </a:pPr>
                      <a:r>
                        <a:rPr lang="en-US" sz="2400" u="none" strike="noStrike" cap="none">
                          <a:latin typeface="Times New Roman" panose="02020603050405020304"/>
                          <a:ea typeface="Times New Roman" panose="02020603050405020304"/>
                          <a:cs typeface="Times New Roman" panose="02020603050405020304"/>
                          <a:sym typeface="Times New Roman" panose="02020603050405020304"/>
                        </a:rPr>
                        <a:t>4</a:t>
                      </a:r>
                      <a:endParaRPr sz="2400" u="none" strike="noStrike" cap="none">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U22CS080</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BANTI KUMARI</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11" name="Google Shape;111;p1"/>
          <p:cNvSpPr/>
          <p:nvPr/>
        </p:nvSpPr>
        <p:spPr>
          <a:xfrm>
            <a:off x="1384879" y="5583604"/>
            <a:ext cx="4317831"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GUIDED BY: G. NIVETHA SRI</a:t>
            </a:r>
            <a:endParaRPr sz="2400" b="1"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 name="Rectangle 2"/>
          <p:cNvSpPr>
            <a:spLocks noChangeArrowheads="1"/>
          </p:cNvSpPr>
          <p:nvPr/>
        </p:nvSpPr>
        <p:spPr bwMode="auto">
          <a:xfrm>
            <a:off x="0" y="625331"/>
            <a:ext cx="36034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BATCH NO: G 14 </a:t>
            </a:r>
            <a:endParaRPr kumimoji="0" lang="en-US" altLang="zh-CN" sz="2400" b="0" i="0" u="none" strike="noStrike" cap="none" normalizeH="0" baseline="0" dirty="0">
              <a:ln>
                <a:noFill/>
              </a:ln>
              <a:solidFill>
                <a:schemeClr val="tx1"/>
              </a:solidFill>
              <a:effectLst/>
            </a:endParaRPr>
          </a:p>
        </p:txBody>
      </p:sp>
      <p:sp>
        <p:nvSpPr>
          <p:cNvPr id="12" name="Rectangle 2"/>
          <p:cNvSpPr>
            <a:spLocks noChangeArrowheads="1"/>
          </p:cNvSpPr>
          <p:nvPr/>
        </p:nvSpPr>
        <p:spPr bwMode="auto">
          <a:xfrm>
            <a:off x="0" y="116043"/>
            <a:ext cx="78028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eaLnBrk="0" fontAlgn="base" hangingPunct="0">
              <a:spcBef>
                <a:spcPct val="0"/>
              </a:spcBef>
              <a:spcAft>
                <a:spcPct val="0"/>
              </a:spcAft>
              <a:buClrTx/>
            </a:pPr>
            <a:r>
              <a:rPr lang="en-IN" sz="2400" b="1" dirty="0">
                <a:latin typeface="Times New Roman" panose="02020603050405020304" pitchFamily="18" charset="0"/>
                <a:ea typeface="Calibri" panose="020F0502020204030204" pitchFamily="34" charset="0"/>
                <a:cs typeface="Times New Roman" panose="02020603050405020304" pitchFamily="18" charset="0"/>
              </a:rPr>
              <a:t>U20CSPR02</a:t>
            </a:r>
            <a:r>
              <a:rPr lang="en-IN" sz="2400" dirty="0"/>
              <a:t>- </a:t>
            </a:r>
            <a:r>
              <a:rPr lang="en-US" altLang="zh-CN" sz="2400" b="1" dirty="0">
                <a:latin typeface="Times New Roman" panose="02020603050405020304" pitchFamily="18" charset="0"/>
                <a:ea typeface="Calibri" panose="020F0502020204030204" pitchFamily="34" charset="0"/>
                <a:cs typeface="Times New Roman" panose="02020603050405020304" pitchFamily="18" charset="0"/>
              </a:rPr>
              <a:t>MINI PROJECT</a:t>
            </a:r>
            <a:endParaRPr kumimoji="0" lang="en-US" altLang="zh-CN" sz="2400" b="0" i="0" u="none" strike="noStrike" cap="none" normalizeH="0" baseline="0" dirty="0">
              <a:ln>
                <a:noFill/>
              </a:ln>
              <a:solidFill>
                <a:schemeClr val="tx1"/>
              </a:solidFill>
              <a:effectLst/>
            </a:endParaRPr>
          </a:p>
        </p:txBody>
      </p:sp>
      <p:sp>
        <p:nvSpPr>
          <p:cNvPr id="13" name="Rectangle 12"/>
          <p:cNvSpPr/>
          <p:nvPr/>
        </p:nvSpPr>
        <p:spPr>
          <a:xfrm>
            <a:off x="0" y="1197067"/>
            <a:ext cx="8162812" cy="461665"/>
          </a:xfrm>
          <a:prstGeom prst="rect">
            <a:avLst/>
          </a:prstGeom>
        </p:spPr>
        <p:txBody>
          <a:bodyPr wrap="none">
            <a:spAutoFit/>
          </a:bodyPr>
          <a:lstStyle/>
          <a:p>
            <a:r>
              <a:rPr lang="en-IN" sz="2400" b="1" dirty="0">
                <a:latin typeface="Times New Roman" panose="02020603050405020304" pitchFamily="18" charset="0"/>
                <a:ea typeface="Calibri" panose="020F0502020204030204" pitchFamily="34" charset="0"/>
                <a:cs typeface="Times New Roman" panose="02020603050405020304" pitchFamily="18" charset="0"/>
              </a:rPr>
              <a:t>DOMAIN: DATA SCIENCE AND MACHINE LEARNING </a:t>
            </a:r>
          </a:p>
        </p:txBody>
      </p:sp>
      <p:sp>
        <p:nvSpPr>
          <p:cNvPr id="14" name="Rectangle 13"/>
          <p:cNvSpPr/>
          <p:nvPr/>
        </p:nvSpPr>
        <p:spPr>
          <a:xfrm>
            <a:off x="0" y="1768803"/>
            <a:ext cx="10883107" cy="830997"/>
          </a:xfrm>
          <a:prstGeom prst="rect">
            <a:avLst/>
          </a:prstGeom>
        </p:spPr>
        <p:txBody>
          <a:bodyPr wrap="none">
            <a:spAutoFit/>
          </a:bodyPr>
          <a:lstStyle/>
          <a:p>
            <a:r>
              <a:rPr lang="en-IN" sz="2400" b="1" dirty="0">
                <a:latin typeface="Times New Roman" panose="02020603050405020304" pitchFamily="18" charset="0"/>
                <a:ea typeface="Calibri" panose="020F0502020204030204" pitchFamily="34" charset="0"/>
                <a:cs typeface="Times New Roman" panose="02020603050405020304" pitchFamily="18" charset="0"/>
              </a:rPr>
              <a:t>PROJECT TITLE :  WILDFIRE PREDICTION USING DATA SCIENCE AND </a:t>
            </a:r>
          </a:p>
          <a:p>
            <a:r>
              <a:rPr lang="en-IN" sz="2400" b="1" dirty="0">
                <a:latin typeface="Times New Roman" panose="02020603050405020304" pitchFamily="18" charset="0"/>
                <a:ea typeface="Calibri" panose="020F0502020204030204" pitchFamily="34" charset="0"/>
                <a:cs typeface="Times New Roman" panose="02020603050405020304" pitchFamily="18" charset="0"/>
              </a:rPr>
              <a:t>                                    MACHINE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
          <p:cNvSpPr txBox="1">
            <a:spLocks noGrp="1"/>
          </p:cNvSpPr>
          <p:nvPr>
            <p:ph type="sldNum" idx="12"/>
          </p:nvPr>
        </p:nvSpPr>
        <p:spPr>
          <a:xfrm>
            <a:off x="10456832" y="6386173"/>
            <a:ext cx="1312025" cy="365125"/>
          </a:xfrm>
          <a:prstGeom prst="rect">
            <a:avLst/>
          </a:prstGeom>
          <a:solidFill>
            <a:srgbClr val="0070C0"/>
          </a:solid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a:t>2</a:t>
            </a:fld>
            <a:endParaRPr sz="2000"/>
          </a:p>
        </p:txBody>
      </p:sp>
      <p:sp>
        <p:nvSpPr>
          <p:cNvPr id="122" name="Google Shape;122;p2"/>
          <p:cNvSpPr txBox="1">
            <a:spLocks noGrp="1"/>
          </p:cNvSpPr>
          <p:nvPr>
            <p:ph type="ftr" idx="11"/>
          </p:nvPr>
        </p:nvSpPr>
        <p:spPr>
          <a:xfrm>
            <a:off x="1069431" y="6386173"/>
            <a:ext cx="9136023" cy="356382"/>
          </a:xfrm>
          <a:prstGeom prst="rect">
            <a:avLst/>
          </a:prstGeom>
          <a:solidFill>
            <a:srgbClr val="0070C0"/>
          </a:solid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000"/>
              <a:t>DEPARTMENT OF COMPUTER SCIENCE AND ENGINEERING</a:t>
            </a:r>
            <a:endParaRPr sz="2000"/>
          </a:p>
        </p:txBody>
      </p:sp>
      <p:pic>
        <p:nvPicPr>
          <p:cNvPr id="123" name="Google Shape;123;p2"/>
          <p:cNvPicPr preferRelativeResize="0"/>
          <p:nvPr/>
        </p:nvPicPr>
        <p:blipFill rotWithShape="1">
          <a:blip r:embed="rId3"/>
          <a:srcRect/>
          <a:stretch>
            <a:fillRect/>
          </a:stretch>
        </p:blipFill>
        <p:spPr>
          <a:xfrm>
            <a:off x="8721665" y="37033"/>
            <a:ext cx="3470335" cy="689927"/>
          </a:xfrm>
          <a:prstGeom prst="rect">
            <a:avLst/>
          </a:prstGeom>
          <a:noFill/>
          <a:ln>
            <a:noFill/>
          </a:ln>
        </p:spPr>
      </p:pic>
      <p:pic>
        <p:nvPicPr>
          <p:cNvPr id="124" name="Google Shape;124;p2"/>
          <p:cNvPicPr preferRelativeResize="0"/>
          <p:nvPr/>
        </p:nvPicPr>
        <p:blipFill rotWithShape="1">
          <a:blip r:embed="rId4"/>
          <a:srcRect/>
          <a:stretch>
            <a:fillRect/>
          </a:stretch>
        </p:blipFill>
        <p:spPr>
          <a:xfrm>
            <a:off x="0" y="5704366"/>
            <a:ext cx="1153634" cy="1153634"/>
          </a:xfrm>
          <a:prstGeom prst="rect">
            <a:avLst/>
          </a:prstGeom>
          <a:noFill/>
          <a:ln>
            <a:noFill/>
          </a:ln>
        </p:spPr>
      </p:pic>
      <p:sp>
        <p:nvSpPr>
          <p:cNvPr id="125" name="Google Shape;125;p2"/>
          <p:cNvSpPr/>
          <p:nvPr/>
        </p:nvSpPr>
        <p:spPr>
          <a:xfrm>
            <a:off x="3119992" y="496127"/>
            <a:ext cx="3603463" cy="461665"/>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CONTENTS</a:t>
            </a:r>
            <a:r>
              <a:rPr lang="en-US" sz="24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4" name="TextBox 3"/>
          <p:cNvSpPr txBox="1"/>
          <p:nvPr/>
        </p:nvSpPr>
        <p:spPr>
          <a:xfrm>
            <a:off x="1153634" y="1306894"/>
            <a:ext cx="7536180" cy="3366563"/>
          </a:xfrm>
          <a:prstGeom prst="rect">
            <a:avLst/>
          </a:prstGeom>
          <a:noFill/>
        </p:spPr>
        <p:txBody>
          <a:bodyPr wrap="square">
            <a:spAutoFit/>
          </a:bodyPr>
          <a:lstStyle/>
          <a:p>
            <a:pPr marL="285750" marR="0" lvl="0" indent="-285750" algn="l" rtl="0">
              <a:lnSpc>
                <a:spcPct val="150000"/>
              </a:lnSpc>
              <a:spcBef>
                <a:spcPts val="0"/>
              </a:spcBef>
              <a:spcAft>
                <a:spcPts val="0"/>
              </a:spcAft>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Abstract</a:t>
            </a:r>
          </a:p>
          <a:p>
            <a:pPr marL="285750" indent="-285750">
              <a:lnSpc>
                <a:spcPct val="150000"/>
              </a:lnSpc>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Objective</a:t>
            </a:r>
          </a:p>
          <a:p>
            <a:pPr marL="285750" indent="-285750">
              <a:lnSpc>
                <a:spcPct val="150000"/>
              </a:lnSpc>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Block Diagram </a:t>
            </a:r>
          </a:p>
          <a:p>
            <a:pPr marL="285750" indent="-285750">
              <a:lnSpc>
                <a:spcPct val="150000"/>
              </a:lnSpc>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Algorithm Explained</a:t>
            </a:r>
          </a:p>
          <a:p>
            <a:pPr marL="285750" indent="-285750">
              <a:lnSpc>
                <a:spcPct val="150000"/>
              </a:lnSpc>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Program Coding</a:t>
            </a:r>
          </a:p>
          <a:p>
            <a:pPr marL="285750" lvl="0" indent="-285750">
              <a:lnSpc>
                <a:spcPct val="150000"/>
              </a:lnSpc>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Demo Model</a:t>
            </a:r>
          </a:p>
          <a:p>
            <a:pPr marL="285750" marR="0" lvl="0" indent="-285750" algn="l" rtl="0">
              <a:lnSpc>
                <a:spcPct val="150000"/>
              </a:lnSpc>
              <a:spcBef>
                <a:spcPts val="0"/>
              </a:spcBef>
              <a:spcAft>
                <a:spcPts val="0"/>
              </a:spcAft>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Output &amp; Results</a:t>
            </a:r>
          </a:p>
          <a:p>
            <a:pPr marL="285750" marR="0" lvl="0" indent="-285750" algn="l" rtl="0">
              <a:lnSpc>
                <a:spcPct val="150000"/>
              </a:lnSpc>
              <a:spcBef>
                <a:spcPts val="0"/>
              </a:spcBef>
              <a:spcAft>
                <a:spcPts val="0"/>
              </a:spcAft>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3</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300735" y="837091"/>
            <a:ext cx="11590529" cy="4642618"/>
          </a:xfrm>
          <a:prstGeom prst="rect">
            <a:avLst/>
          </a:prstGeom>
          <a:noFill/>
        </p:spPr>
        <p:txBody>
          <a:bodyPr wrap="square" rtlCol="0">
            <a:spAutoFit/>
          </a:bodyPr>
          <a:lstStyle/>
          <a:p>
            <a:pPr>
              <a:lnSpc>
                <a:spcPct val="150000"/>
              </a:lnSpc>
            </a:pPr>
            <a:r>
              <a:rPr lang="en-US" sz="3200" b="1" dirty="0">
                <a:latin typeface="Times New Roman" panose="02020603050405020304" pitchFamily="18" charset="0"/>
                <a:ea typeface="Calibri" panose="020F0502020204030204" pitchFamily="34" charset="0"/>
                <a:cs typeface="Times New Roman" panose="02020603050405020304" pitchFamily="18" charset="0"/>
              </a:rPr>
              <a:t>Abstract:</a:t>
            </a:r>
          </a:p>
          <a:p>
            <a:pPr algn="just">
              <a:lnSpc>
                <a:spcPct val="150000"/>
              </a:lnSpc>
            </a:pPr>
            <a:r>
              <a:rPr lang="en-US" sz="2400" dirty="0">
                <a:latin typeface="Times New Roman" panose="02020603050405020304" pitchFamily="18" charset="0"/>
                <a:cs typeface="Times New Roman" panose="02020603050405020304" pitchFamily="18" charset="0"/>
              </a:rPr>
              <a:t>         Wildfires cause severe ecological, economic, and social impacts, making early prediction essential. Data science and machine learning provide effective tools to analyze weather, vegetation, and historical fire data for identifying high-risk areas. This study applies predictive models such as Random Forest and Neural Networks to improve wildfire forecasting accuracy. The findings aim to support early warning systems, resource management, and disaster mitigation.</a:t>
            </a:r>
          </a:p>
          <a:p>
            <a:pPr>
              <a:lnSpc>
                <a:spcPct val="150000"/>
              </a:lnSpc>
            </a:pPr>
            <a:endParaRPr lang="en-IN"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4</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435962" y="990802"/>
            <a:ext cx="10020870" cy="4642618"/>
          </a:xfrm>
          <a:prstGeom prst="rect">
            <a:avLst/>
          </a:prstGeom>
          <a:noFill/>
        </p:spPr>
        <p:txBody>
          <a:bodyPr wrap="square" rtlCol="0">
            <a:spAutoFit/>
          </a:bodyPr>
          <a:lstStyle/>
          <a:p>
            <a:pPr algn="just">
              <a:lnSpc>
                <a:spcPct val="150000"/>
              </a:lnSpc>
              <a:buClr>
                <a:srgbClr val="FF0000"/>
              </a:buClr>
            </a:pPr>
            <a:r>
              <a:rPr lang="en-US" sz="32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Objective:</a:t>
            </a:r>
          </a:p>
          <a:p>
            <a:pPr algn="just">
              <a:lnSpc>
                <a:spcPct val="150000"/>
              </a:lnSpc>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Develop ML model to predict wildfire occurrences.</a:t>
            </a:r>
          </a:p>
          <a:p>
            <a:pPr algn="just">
              <a:lnSpc>
                <a:spcPct val="150000"/>
              </a:lnSpc>
              <a:buClr>
                <a:srgbClr val="FF0000"/>
              </a:buClr>
            </a:pP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 Classify fire-prone vs non-fire-prone areas.</a:t>
            </a:r>
          </a:p>
          <a:p>
            <a:pPr algn="just">
              <a:lnSpc>
                <a:spcPct val="150000"/>
              </a:lnSpc>
              <a:buClr>
                <a:srgbClr val="FF0000"/>
              </a:buClr>
            </a:pP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●Predict Fire Weather Index (FWI) using regression.</a:t>
            </a:r>
          </a:p>
          <a:p>
            <a:pPr algn="just">
              <a:lnSpc>
                <a:spcPct val="150000"/>
              </a:lnSpc>
              <a:buClr>
                <a:srgbClr val="FF0000"/>
              </a:buClr>
            </a:pP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●Use MongoDB for data storage.</a:t>
            </a:r>
          </a:p>
          <a:p>
            <a:pPr algn="just">
              <a:lnSpc>
                <a:spcPct val="150000"/>
              </a:lnSpc>
              <a:buClr>
                <a:srgbClr val="FF0000"/>
              </a:buClr>
            </a:pP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●Perform Exploratory Data Analysis for insights</a:t>
            </a:r>
          </a:p>
          <a:p>
            <a:pPr>
              <a:lnSpc>
                <a:spcPct val="150000"/>
              </a:lnSpc>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p>
          <a:p>
            <a:pPr>
              <a:lnSpc>
                <a:spcPct val="150000"/>
              </a:lnSpc>
            </a:pPr>
            <a:endParaRPr lang="en-IN"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5</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215391" y="951473"/>
            <a:ext cx="10020870" cy="1318631"/>
          </a:xfrm>
          <a:prstGeom prst="rect">
            <a:avLst/>
          </a:prstGeom>
          <a:noFill/>
        </p:spPr>
        <p:txBody>
          <a:bodyPr wrap="square" rtlCol="0">
            <a:spAutoFit/>
          </a:bodyPr>
          <a:lstStyle/>
          <a:p>
            <a:pPr>
              <a:lnSpc>
                <a:spcPct val="150000"/>
              </a:lnSpc>
              <a:buClr>
                <a:srgbClr val="FF0000"/>
              </a:buClr>
            </a:pPr>
            <a:r>
              <a:rPr lang="en-US" sz="32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Block Diagram:</a:t>
            </a:r>
          </a:p>
          <a:p>
            <a:pPr>
              <a:lnSpc>
                <a:spcPct val="150000"/>
              </a:lnSpc>
            </a:pPr>
            <a:endParaRPr lang="en-IN" sz="2400" b="1"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86CD9DCB-579B-65DD-1073-8992A60E8418}"/>
              </a:ext>
            </a:extLst>
          </p:cNvPr>
          <p:cNvPicPr>
            <a:picLocks noChangeAspect="1"/>
          </p:cNvPicPr>
          <p:nvPr/>
        </p:nvPicPr>
        <p:blipFill>
          <a:blip r:embed="rId5"/>
          <a:stretch>
            <a:fillRect/>
          </a:stretch>
        </p:blipFill>
        <p:spPr>
          <a:xfrm>
            <a:off x="855406" y="2190749"/>
            <a:ext cx="10913451" cy="29416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6C50B-789D-DE16-338D-597A784D7352}"/>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0646633D-5EBB-A0CE-9656-C438917C9D82}"/>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6</a:t>
            </a:fld>
            <a:endParaRPr lang="en-US" sz="2000" dirty="0"/>
          </a:p>
        </p:txBody>
      </p:sp>
      <p:sp>
        <p:nvSpPr>
          <p:cNvPr id="5" name="Footer Placeholder 4">
            <a:extLst>
              <a:ext uri="{FF2B5EF4-FFF2-40B4-BE49-F238E27FC236}">
                <a16:creationId xmlns:a16="http://schemas.microsoft.com/office/drawing/2014/main" id="{131AD8EE-90BA-5452-6129-8832E2238D7E}"/>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3880EABD-1A44-50AE-E5B6-7CFCF6E071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040CD5F2-E7C6-5AC9-C432-23D82E8F3119}"/>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3A5972AA-B539-1490-139A-479F79FA747E}"/>
              </a:ext>
            </a:extLst>
          </p:cNvPr>
          <p:cNvSpPr txBox="1"/>
          <p:nvPr/>
        </p:nvSpPr>
        <p:spPr>
          <a:xfrm>
            <a:off x="576817" y="726960"/>
            <a:ext cx="11297264" cy="5196615"/>
          </a:xfrm>
          <a:prstGeom prst="rect">
            <a:avLst/>
          </a:prstGeom>
          <a:noFill/>
        </p:spPr>
        <p:txBody>
          <a:bodyPr wrap="square" rtlCol="0">
            <a:spAutoFit/>
          </a:bodyPr>
          <a:lstStyle/>
          <a:p>
            <a:pPr>
              <a:lnSpc>
                <a:spcPct val="150000"/>
              </a:lnSpc>
              <a:buClr>
                <a:srgbClr val="FF0000"/>
              </a:buClr>
            </a:pPr>
            <a:r>
              <a:rPr lang="en-US" sz="32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Algorithm Explained:</a:t>
            </a:r>
          </a:p>
          <a:p>
            <a:pPr marL="285750" indent="-285750" algn="just">
              <a:lnSpc>
                <a:spcPct val="150000"/>
              </a:lnSpc>
              <a:buClr>
                <a:schemeClr val="tx1"/>
              </a:buClr>
              <a:buFont typeface="Arial" panose="020B0604020202020204" pitchFamily="34" charset="0"/>
              <a:buChar char="•"/>
            </a:pPr>
            <a:r>
              <a:rPr lang="en-IN" sz="24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Times New Roman" panose="02020603050405020304"/>
              </a:rPr>
              <a:t> Data Collection: Gather wildfire and weather data from the UCI dataset (temperature, humidity, wind speed, rainfall, etc.).</a:t>
            </a:r>
          </a:p>
          <a:p>
            <a:pPr marL="285750" indent="-285750" algn="just">
              <a:lnSpc>
                <a:spcPct val="150000"/>
              </a:lnSpc>
              <a:buClr>
                <a:schemeClr val="tx1"/>
              </a:buClr>
              <a:buFont typeface="Arial" panose="020B0604020202020204" pitchFamily="34" charset="0"/>
              <a:buChar char="•"/>
            </a:pPr>
            <a:r>
              <a:rPr lang="en-IN" sz="24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Times New Roman" panose="02020603050405020304"/>
              </a:rPr>
              <a:t> Data Preprocessing: Clean data, handle missing values, normalize features, and split into training, validation, and test sets.</a:t>
            </a:r>
          </a:p>
          <a:p>
            <a:pPr marL="285750" indent="-285750" algn="just">
              <a:lnSpc>
                <a:spcPct val="150000"/>
              </a:lnSpc>
              <a:buClr>
                <a:schemeClr val="tx1"/>
              </a:buClr>
              <a:buFont typeface="Arial" panose="020B0604020202020204" pitchFamily="34" charset="0"/>
              <a:buChar char="•"/>
            </a:pPr>
            <a:r>
              <a:rPr lang="en-IN" sz="24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Times New Roman" panose="02020603050405020304"/>
              </a:rPr>
              <a:t> Model Building Classification: Predict fire/no fire using models like Random Forest,  Decision Tree, Logistic   Regression, KNN.</a:t>
            </a:r>
          </a:p>
          <a:p>
            <a:pPr algn="just">
              <a:lnSpc>
                <a:spcPct val="150000"/>
              </a:lnSpc>
              <a:buClr>
                <a:srgbClr val="FF0000"/>
              </a:buClr>
            </a:pPr>
            <a:r>
              <a:rPr lang="en-IN" sz="2400" b="1"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Times New Roman" panose="02020603050405020304"/>
              </a:rPr>
              <a:t>     Regression</a:t>
            </a:r>
            <a:r>
              <a:rPr lang="en-IN" sz="24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Times New Roman" panose="02020603050405020304"/>
              </a:rPr>
              <a:t>: Predict Fire Weather Index (FWI) using Random Forest Regressor, Linear    </a:t>
            </a:r>
          </a:p>
          <a:p>
            <a:pPr algn="just">
              <a:lnSpc>
                <a:spcPct val="150000"/>
              </a:lnSpc>
              <a:buClr>
                <a:srgbClr val="FF0000"/>
              </a:buClr>
            </a:pPr>
            <a:r>
              <a:rPr lang="en-IN" sz="24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Times New Roman" panose="02020603050405020304"/>
              </a:rPr>
              <a:t>      Regression,SVR.</a:t>
            </a:r>
          </a:p>
        </p:txBody>
      </p:sp>
    </p:spTree>
    <p:extLst>
      <p:ext uri="{BB962C8B-B14F-4D97-AF65-F5344CB8AC3E}">
        <p14:creationId xmlns:p14="http://schemas.microsoft.com/office/powerpoint/2010/main" val="2860510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7</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435962" y="1325775"/>
            <a:ext cx="10020870" cy="3349956"/>
          </a:xfrm>
          <a:prstGeom prst="rect">
            <a:avLst/>
          </a:prstGeom>
          <a:noFill/>
        </p:spPr>
        <p:txBody>
          <a:bodyPr wrap="square" rtlCol="0">
            <a:spAutoFit/>
          </a:bodyPr>
          <a:lstStyle/>
          <a:p>
            <a:pPr marL="342900" lvl="0" indent="-342900" algn="just">
              <a:lnSpc>
                <a:spcPct val="150000"/>
              </a:lnSpc>
              <a:buClrTx/>
              <a:buFont typeface="Arial" panose="020B0604020202020204" pitchFamily="34" charset="0"/>
              <a:buChar char="•"/>
            </a:pP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Model Optimization: Apply hyperparameter tuning and cross-validation to improve performance.</a:t>
            </a:r>
          </a:p>
          <a:p>
            <a:pPr marL="342900" lvl="0" indent="-342900" algn="just">
              <a:lnSpc>
                <a:spcPct val="150000"/>
              </a:lnSpc>
              <a:buClrTx/>
              <a:buFont typeface="Arial" panose="020B0604020202020204" pitchFamily="34" charset="0"/>
              <a:buChar char="•"/>
            </a:pP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Evaluation: Measure accuracy, precision, recall (for classification) and R², MAE, RMSE (for regression).</a:t>
            </a:r>
          </a:p>
          <a:p>
            <a:pPr marL="342900" lvl="0" indent="-342900" algn="just">
              <a:lnSpc>
                <a:spcPct val="150000"/>
              </a:lnSpc>
              <a:buClrTx/>
              <a:buFont typeface="Arial" panose="020B0604020202020204" pitchFamily="34" charset="0"/>
              <a:buChar char="•"/>
            </a:pP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Prediction Output: Predict wildfire risk and FWI, store results in MongoDB, and visualize outcomes.</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8</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714469" y="81562"/>
            <a:ext cx="11271054" cy="5473614"/>
          </a:xfrm>
          <a:prstGeom prst="rect">
            <a:avLst/>
          </a:prstGeom>
          <a:noFill/>
        </p:spPr>
        <p:txBody>
          <a:bodyPr wrap="square" rtlCol="0">
            <a:spAutoFit/>
          </a:bodyPr>
          <a:lstStyle/>
          <a:p>
            <a:pPr marR="0" lvl="0" algn="just" rtl="0">
              <a:lnSpc>
                <a:spcPct val="150000"/>
              </a:lnSpc>
              <a:spcBef>
                <a:spcPts val="0"/>
              </a:spcBef>
              <a:spcAft>
                <a:spcPts val="0"/>
              </a:spcAft>
              <a:buClr>
                <a:srgbClr val="FF0000"/>
              </a:buClr>
            </a:pPr>
            <a:r>
              <a:rPr lang="en-US" sz="32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Program Coding:</a:t>
            </a:r>
          </a:p>
          <a:p>
            <a:pPr marR="0" lvl="0" algn="just" rtl="0">
              <a:lnSpc>
                <a:spcPct val="150000"/>
              </a:lnSpc>
              <a:spcBef>
                <a:spcPts val="0"/>
              </a:spcBef>
              <a:spcAft>
                <a:spcPts val="0"/>
              </a:spcAft>
              <a:buClr>
                <a:srgbClr val="FF0000"/>
              </a:buClr>
            </a:pPr>
            <a:r>
              <a:rPr lang="en-US" sz="20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Language &amp; Tools: </a:t>
            </a:r>
            <a:r>
              <a:rPr lang="en-US" sz="20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Python, Pandas, NumPy, Scikit-learn, Matplotlib, Seaborn</a:t>
            </a:r>
          </a:p>
          <a:p>
            <a:pPr marR="0" lvl="0" algn="just" rtl="0">
              <a:lnSpc>
                <a:spcPct val="150000"/>
              </a:lnSpc>
              <a:spcBef>
                <a:spcPts val="0"/>
              </a:spcBef>
              <a:spcAft>
                <a:spcPts val="0"/>
              </a:spcAft>
              <a:buClr>
                <a:srgbClr val="FF0000"/>
              </a:buClr>
            </a:pPr>
            <a:r>
              <a:rPr lang="en-US" sz="20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Algorithm Used: </a:t>
            </a:r>
            <a:r>
              <a:rPr lang="en-US" sz="20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Random Forest / SVM / XGBoost </a:t>
            </a:r>
          </a:p>
          <a:p>
            <a:pPr marR="0" lvl="0" algn="just" rtl="0">
              <a:lnSpc>
                <a:spcPct val="150000"/>
              </a:lnSpc>
              <a:spcBef>
                <a:spcPts val="0"/>
              </a:spcBef>
              <a:spcAft>
                <a:spcPts val="0"/>
              </a:spcAft>
              <a:buClr>
                <a:srgbClr val="FF0000"/>
              </a:buClr>
            </a:pPr>
            <a:r>
              <a:rPr lang="en-US" sz="20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Dataset Features: </a:t>
            </a:r>
            <a:r>
              <a:rPr lang="en-US" sz="20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Temperature, Humidity, Wind Speed, Rainfall, NDVI, Fire Weather Index</a:t>
            </a:r>
          </a:p>
          <a:p>
            <a:pPr marR="0" lvl="0" algn="just" rtl="0">
              <a:lnSpc>
                <a:spcPct val="150000"/>
              </a:lnSpc>
              <a:spcBef>
                <a:spcPts val="0"/>
              </a:spcBef>
              <a:spcAft>
                <a:spcPts val="0"/>
              </a:spcAft>
              <a:buClr>
                <a:srgbClr val="FF0000"/>
              </a:buClr>
            </a:pPr>
            <a:r>
              <a:rPr lang="en-US" sz="20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Steps in Coding:</a:t>
            </a:r>
          </a:p>
          <a:p>
            <a:pPr marL="342900" marR="0" lvl="0" indent="-342900" algn="just" rtl="0">
              <a:lnSpc>
                <a:spcPct val="150000"/>
              </a:lnSpc>
              <a:spcBef>
                <a:spcPts val="0"/>
              </a:spcBef>
              <a:spcAft>
                <a:spcPts val="0"/>
              </a:spcAft>
              <a:buClrTx/>
              <a:buFont typeface="Arial" panose="020B0604020202020204" pitchFamily="34" charset="0"/>
              <a:buChar char="•"/>
            </a:pPr>
            <a:r>
              <a:rPr lang="en-US" sz="20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Import libraries</a:t>
            </a:r>
          </a:p>
          <a:p>
            <a:pPr marL="342900" marR="0" lvl="0" indent="-342900" algn="just" rtl="0">
              <a:lnSpc>
                <a:spcPct val="150000"/>
              </a:lnSpc>
              <a:spcBef>
                <a:spcPts val="0"/>
              </a:spcBef>
              <a:spcAft>
                <a:spcPts val="0"/>
              </a:spcAft>
              <a:buClrTx/>
              <a:buFont typeface="Arial" panose="020B0604020202020204" pitchFamily="34" charset="0"/>
              <a:buChar char="•"/>
            </a:pPr>
            <a:r>
              <a:rPr lang="en-US" sz="20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Load dataset (wildfire_data.csv)</a:t>
            </a:r>
          </a:p>
          <a:p>
            <a:pPr marL="342900" marR="0" lvl="0" indent="-342900" algn="just" rtl="0">
              <a:lnSpc>
                <a:spcPct val="150000"/>
              </a:lnSpc>
              <a:spcBef>
                <a:spcPts val="0"/>
              </a:spcBef>
              <a:spcAft>
                <a:spcPts val="0"/>
              </a:spcAft>
              <a:buClrTx/>
              <a:buFont typeface="Arial" panose="020B0604020202020204" pitchFamily="34" charset="0"/>
              <a:buChar char="•"/>
            </a:pPr>
            <a:r>
              <a:rPr lang="en-US" sz="20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Preprocess data (handle missing values, split features &amp; labels)</a:t>
            </a:r>
          </a:p>
          <a:p>
            <a:pPr marL="342900" marR="0" lvl="0" indent="-342900" algn="just" rtl="0">
              <a:lnSpc>
                <a:spcPct val="150000"/>
              </a:lnSpc>
              <a:spcBef>
                <a:spcPts val="0"/>
              </a:spcBef>
              <a:spcAft>
                <a:spcPts val="0"/>
              </a:spcAft>
              <a:buClrTx/>
              <a:buFont typeface="Arial" panose="020B0604020202020204" pitchFamily="34" charset="0"/>
              <a:buChar char="•"/>
            </a:pPr>
            <a:r>
              <a:rPr lang="en-US" sz="20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Train model using Random Forest Classifier</a:t>
            </a:r>
          </a:p>
          <a:p>
            <a:pPr marL="342900" marR="0" lvl="0" indent="-342900" algn="just" rtl="0">
              <a:lnSpc>
                <a:spcPct val="150000"/>
              </a:lnSpc>
              <a:spcBef>
                <a:spcPts val="0"/>
              </a:spcBef>
              <a:spcAft>
                <a:spcPts val="0"/>
              </a:spcAft>
              <a:buClrTx/>
              <a:buFont typeface="Arial" panose="020B0604020202020204" pitchFamily="34" charset="0"/>
              <a:buChar char="•"/>
            </a:pPr>
            <a:r>
              <a:rPr lang="en-US" sz="20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Predict and evaluate with accuracy, classification report, confusion matrix</a:t>
            </a:r>
          </a:p>
          <a:p>
            <a:pPr marR="0" lvl="0" algn="just" rtl="0">
              <a:lnSpc>
                <a:spcPct val="150000"/>
              </a:lnSpc>
              <a:spcBef>
                <a:spcPts val="0"/>
              </a:spcBef>
              <a:spcAft>
                <a:spcPts val="0"/>
              </a:spcAft>
              <a:buClrTx/>
            </a:pPr>
            <a:r>
              <a:rPr lang="en-US" sz="20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Output:</a:t>
            </a:r>
            <a:r>
              <a:rPr lang="en-US" sz="20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Predicts if wildfire will  occur (1) or not (0) based on input parameters</a:t>
            </a: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9</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215391" y="720845"/>
            <a:ext cx="11553466" cy="4642618"/>
          </a:xfrm>
          <a:prstGeom prst="rect">
            <a:avLst/>
          </a:prstGeom>
          <a:noFill/>
        </p:spPr>
        <p:txBody>
          <a:bodyPr wrap="square" rtlCol="0">
            <a:spAutoFit/>
          </a:bodyPr>
          <a:lstStyle/>
          <a:p>
            <a:pPr marR="0" lvl="0" algn="just" rtl="0">
              <a:lnSpc>
                <a:spcPct val="150000"/>
              </a:lnSpc>
              <a:spcBef>
                <a:spcPts val="0"/>
              </a:spcBef>
              <a:spcAft>
                <a:spcPts val="0"/>
              </a:spcAft>
              <a:buClr>
                <a:srgbClr val="FF0000"/>
              </a:buClr>
            </a:pPr>
            <a:r>
              <a:rPr lang="en-US" sz="32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Demo Model:</a:t>
            </a:r>
          </a:p>
          <a:p>
            <a:pPr marL="285750" lvl="0" indent="-285750" algn="just">
              <a:lnSpc>
                <a:spcPct val="150000"/>
              </a:lnSpc>
              <a:buClrTx/>
              <a:buFont typeface="Arial" panose="020B0604020202020204" pitchFamily="34" charset="0"/>
              <a:buChar cha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Input: </a:t>
            </a: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Weather data — temperature, humidity, wind speed, rainfall, etc.</a:t>
            </a:r>
          </a:p>
          <a:p>
            <a:pPr marL="285750" lvl="0" indent="-285750" algn="just">
              <a:lnSpc>
                <a:spcPct val="150000"/>
              </a:lnSpc>
              <a:buClrTx/>
              <a:buFont typeface="Arial" panose="020B0604020202020204" pitchFamily="34" charset="0"/>
              <a:buChar cha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Preprocessing: </a:t>
            </a: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Clean and normalize the data.</a:t>
            </a:r>
          </a:p>
          <a:p>
            <a:pPr marL="285750" lvl="0" indent="-285750" algn="just">
              <a:lnSpc>
                <a:spcPct val="150000"/>
              </a:lnSpc>
              <a:buClrTx/>
              <a:buFont typeface="Arial" panose="020B0604020202020204" pitchFamily="34" charset="0"/>
              <a:buChar cha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Model Training:</a:t>
            </a: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Use Random Forest Classifier to predict fire occurrence and Random Forest Regressor to predict the Fire Weather Index (FWI).</a:t>
            </a:r>
          </a:p>
          <a:p>
            <a:pPr marL="285750" lvl="0" indent="-285750" algn="just">
              <a:lnSpc>
                <a:spcPct val="150000"/>
              </a:lnSpc>
              <a:buClrTx/>
              <a:buFont typeface="Arial" panose="020B0604020202020204" pitchFamily="34" charset="0"/>
              <a:buChar cha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Prediction:</a:t>
            </a: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The model outputs whether a wildfire is likely or not, and the FWI value.</a:t>
            </a:r>
          </a:p>
          <a:p>
            <a:pPr marL="285750" lvl="0" indent="-285750" algn="just">
              <a:lnSpc>
                <a:spcPct val="150000"/>
              </a:lnSpc>
              <a:buClrTx/>
              <a:buFont typeface="Arial" panose="020B0604020202020204" pitchFamily="34" charset="0"/>
              <a:buChar cha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Storage &amp; Display: </a:t>
            </a: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Results are saved in MongoDB and shown through graphs or a simple web app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10</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215391" y="951473"/>
            <a:ext cx="10020870" cy="579967"/>
          </a:xfrm>
          <a:prstGeom prst="rect">
            <a:avLst/>
          </a:prstGeom>
          <a:noFill/>
        </p:spPr>
        <p:txBody>
          <a:bodyPr wrap="square" rtlCol="0">
            <a:spAutoFit/>
          </a:bodyPr>
          <a:lstStyle/>
          <a:p>
            <a:pPr>
              <a:lnSpc>
                <a:spcPct val="150000"/>
              </a:lnSpc>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p>
        </p:txBody>
      </p:sp>
      <p:pic>
        <p:nvPicPr>
          <p:cNvPr id="4" name="Picture 3" descr="A diagram of a firefighting system&#10;&#10;Description automatically generated with medium confidence">
            <a:extLst>
              <a:ext uri="{FF2B5EF4-FFF2-40B4-BE49-F238E27FC236}">
                <a16:creationId xmlns:a16="http://schemas.microsoft.com/office/drawing/2014/main" id="{64309EFD-254D-2015-81E8-F064C59FF2F5}"/>
              </a:ext>
            </a:extLst>
          </p:cNvPr>
          <p:cNvPicPr>
            <a:picLocks noChangeAspect="1"/>
          </p:cNvPicPr>
          <p:nvPr/>
        </p:nvPicPr>
        <p:blipFill>
          <a:blip r:embed="rId5"/>
          <a:stretch>
            <a:fillRect/>
          </a:stretch>
        </p:blipFill>
        <p:spPr>
          <a:xfrm>
            <a:off x="835742" y="875071"/>
            <a:ext cx="10451690" cy="4713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11</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360507" y="726960"/>
            <a:ext cx="10020870" cy="1318631"/>
          </a:xfrm>
          <a:prstGeom prst="rect">
            <a:avLst/>
          </a:prstGeom>
          <a:noFill/>
        </p:spPr>
        <p:txBody>
          <a:bodyPr wrap="square" rtlCol="0">
            <a:spAutoFit/>
          </a:bodyPr>
          <a:lstStyle/>
          <a:p>
            <a:pPr marR="0" lvl="0" algn="l" rtl="0">
              <a:lnSpc>
                <a:spcPct val="150000"/>
              </a:lnSpc>
              <a:spcBef>
                <a:spcPts val="0"/>
              </a:spcBef>
              <a:spcAft>
                <a:spcPts val="0"/>
              </a:spcAft>
              <a:buClr>
                <a:srgbClr val="FF0000"/>
              </a:buClr>
            </a:pPr>
            <a:r>
              <a:rPr lang="en-US" sz="32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Output &amp; Results:</a:t>
            </a: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p>
          <a:p>
            <a:pPr marL="342900" marR="0" lvl="0" indent="-342900" algn="l" rtl="0">
              <a:lnSpc>
                <a:spcPct val="150000"/>
              </a:lnSpc>
              <a:spcBef>
                <a:spcPts val="0"/>
              </a:spcBef>
              <a:spcAft>
                <a:spcPts val="0"/>
              </a:spcAft>
              <a:buClr>
                <a:schemeClr val="tx1"/>
              </a:buClr>
              <a:buFont typeface="Arial" panose="020B0604020202020204" pitchFamily="34" charset="0"/>
              <a:buChar cha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EDA:</a:t>
            </a:r>
          </a:p>
        </p:txBody>
      </p:sp>
      <p:pic>
        <p:nvPicPr>
          <p:cNvPr id="4" name="Picture 3">
            <a:extLst>
              <a:ext uri="{FF2B5EF4-FFF2-40B4-BE49-F238E27FC236}">
                <a16:creationId xmlns:a16="http://schemas.microsoft.com/office/drawing/2014/main" id="{E102A7C7-5C3C-CC8E-269B-B8ABF606533C}"/>
              </a:ext>
            </a:extLst>
          </p:cNvPr>
          <p:cNvPicPr>
            <a:picLocks noChangeAspect="1"/>
          </p:cNvPicPr>
          <p:nvPr/>
        </p:nvPicPr>
        <p:blipFill>
          <a:blip r:embed="rId5"/>
          <a:stretch>
            <a:fillRect/>
          </a:stretch>
        </p:blipFill>
        <p:spPr>
          <a:xfrm>
            <a:off x="3717131" y="1494503"/>
            <a:ext cx="4757738" cy="44835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66A00-314E-7C6B-F025-7B0002B8D75F}"/>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0D16776-CAE8-EF60-DF2C-78949F30B48C}"/>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12</a:t>
            </a:fld>
            <a:endParaRPr lang="en-US" sz="2000" dirty="0"/>
          </a:p>
        </p:txBody>
      </p:sp>
      <p:sp>
        <p:nvSpPr>
          <p:cNvPr id="5" name="Footer Placeholder 4">
            <a:extLst>
              <a:ext uri="{FF2B5EF4-FFF2-40B4-BE49-F238E27FC236}">
                <a16:creationId xmlns:a16="http://schemas.microsoft.com/office/drawing/2014/main" id="{3FA8F572-B0B2-2E92-10B5-37E917CC679C}"/>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100FEFDE-6552-F5D6-8599-15ECD9BD5C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5A20C86E-4E49-4321-9AA4-691FCCCD890F}"/>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53B27310-5D3F-1A2A-07DB-920540A49B69}"/>
              </a:ext>
            </a:extLst>
          </p:cNvPr>
          <p:cNvSpPr txBox="1"/>
          <p:nvPr/>
        </p:nvSpPr>
        <p:spPr>
          <a:xfrm>
            <a:off x="215391" y="951473"/>
            <a:ext cx="10020870" cy="579967"/>
          </a:xfrm>
          <a:prstGeom prst="rect">
            <a:avLst/>
          </a:prstGeom>
          <a:noFill/>
        </p:spPr>
        <p:txBody>
          <a:bodyPr wrap="square" rtlCol="0">
            <a:spAutoFit/>
          </a:bodyPr>
          <a:lstStyle/>
          <a:p>
            <a:pPr marL="342900" marR="0" lvl="0" indent="-342900" algn="l" rtl="0">
              <a:lnSpc>
                <a:spcPct val="150000"/>
              </a:lnSpc>
              <a:spcBef>
                <a:spcPts val="0"/>
              </a:spcBef>
              <a:spcAft>
                <a:spcPts val="0"/>
              </a:spcAft>
              <a:buClr>
                <a:schemeClr val="tx1"/>
              </a:buClr>
              <a:buFont typeface="Arial" panose="020B0604020202020204" pitchFamily="34" charset="0"/>
              <a:buChar cha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MODEL:</a:t>
            </a:r>
          </a:p>
        </p:txBody>
      </p:sp>
      <p:pic>
        <p:nvPicPr>
          <p:cNvPr id="4" name="Picture 3">
            <a:extLst>
              <a:ext uri="{FF2B5EF4-FFF2-40B4-BE49-F238E27FC236}">
                <a16:creationId xmlns:a16="http://schemas.microsoft.com/office/drawing/2014/main" id="{C5EDE4DE-F497-A878-5611-5D9882DBE9B8}"/>
              </a:ext>
            </a:extLst>
          </p:cNvPr>
          <p:cNvPicPr>
            <a:picLocks noChangeAspect="1"/>
          </p:cNvPicPr>
          <p:nvPr/>
        </p:nvPicPr>
        <p:blipFill>
          <a:blip r:embed="rId5"/>
          <a:stretch>
            <a:fillRect/>
          </a:stretch>
        </p:blipFill>
        <p:spPr>
          <a:xfrm>
            <a:off x="2825872" y="1531440"/>
            <a:ext cx="6540255" cy="4633386"/>
          </a:xfrm>
          <a:prstGeom prst="rect">
            <a:avLst/>
          </a:prstGeom>
        </p:spPr>
      </p:pic>
    </p:spTree>
    <p:extLst>
      <p:ext uri="{BB962C8B-B14F-4D97-AF65-F5344CB8AC3E}">
        <p14:creationId xmlns:p14="http://schemas.microsoft.com/office/powerpoint/2010/main" val="3710859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04ACA-C3B3-AF2C-128A-1B04D91EAEC1}"/>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E158C431-53EA-F3A1-8BD4-5176DAFD5F79}"/>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13</a:t>
            </a:fld>
            <a:endParaRPr lang="en-US" sz="2000" dirty="0"/>
          </a:p>
        </p:txBody>
      </p:sp>
      <p:sp>
        <p:nvSpPr>
          <p:cNvPr id="5" name="Footer Placeholder 4">
            <a:extLst>
              <a:ext uri="{FF2B5EF4-FFF2-40B4-BE49-F238E27FC236}">
                <a16:creationId xmlns:a16="http://schemas.microsoft.com/office/drawing/2014/main" id="{CD35C6DB-C8B2-33B1-A3DD-9D0D2D47F7B2}"/>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682FC4B9-ABE0-F2A3-F98A-9D0E2FD9B0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89C4F558-28AD-553F-1DB9-1CFAAA45D0E8}"/>
              </a:ext>
            </a:extLst>
          </p:cNvPr>
          <p:cNvPicPr>
            <a:picLocks noChangeAspect="1"/>
          </p:cNvPicPr>
          <p:nvPr/>
        </p:nvPicPr>
        <p:blipFill>
          <a:blip r:embed="rId4"/>
          <a:stretch>
            <a:fillRect/>
          </a:stretch>
        </p:blipFill>
        <p:spPr>
          <a:xfrm>
            <a:off x="0" y="5704366"/>
            <a:ext cx="1153634" cy="1153634"/>
          </a:xfrm>
          <a:prstGeom prst="rect">
            <a:avLst/>
          </a:prstGeom>
        </p:spPr>
      </p:pic>
      <p:pic>
        <p:nvPicPr>
          <p:cNvPr id="4" name="Picture 3">
            <a:extLst>
              <a:ext uri="{FF2B5EF4-FFF2-40B4-BE49-F238E27FC236}">
                <a16:creationId xmlns:a16="http://schemas.microsoft.com/office/drawing/2014/main" id="{676BC3A9-6110-51E6-4D1F-80B7CFECCD1E}"/>
              </a:ext>
            </a:extLst>
          </p:cNvPr>
          <p:cNvPicPr>
            <a:picLocks noChangeAspect="1"/>
          </p:cNvPicPr>
          <p:nvPr/>
        </p:nvPicPr>
        <p:blipFill>
          <a:blip r:embed="rId5"/>
          <a:stretch>
            <a:fillRect/>
          </a:stretch>
        </p:blipFill>
        <p:spPr>
          <a:xfrm>
            <a:off x="1495425" y="951473"/>
            <a:ext cx="9201150" cy="4476750"/>
          </a:xfrm>
          <a:prstGeom prst="rect">
            <a:avLst/>
          </a:prstGeom>
        </p:spPr>
      </p:pic>
    </p:spTree>
    <p:extLst>
      <p:ext uri="{BB962C8B-B14F-4D97-AF65-F5344CB8AC3E}">
        <p14:creationId xmlns:p14="http://schemas.microsoft.com/office/powerpoint/2010/main" val="1831042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50A9F-2804-FB99-BF95-7878CB27728B}"/>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700906DF-8C3F-3447-5949-3A5860BDF2D2}"/>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14</a:t>
            </a:fld>
            <a:endParaRPr lang="en-US" sz="2000" dirty="0"/>
          </a:p>
        </p:txBody>
      </p:sp>
      <p:sp>
        <p:nvSpPr>
          <p:cNvPr id="5" name="Footer Placeholder 4">
            <a:extLst>
              <a:ext uri="{FF2B5EF4-FFF2-40B4-BE49-F238E27FC236}">
                <a16:creationId xmlns:a16="http://schemas.microsoft.com/office/drawing/2014/main" id="{1F4B0A99-5139-05F9-C167-A740496823E9}"/>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4888970D-C1E4-8963-15C0-3145668E57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F2D77744-30E0-3794-F2AA-4BA2F7B64F9E}"/>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C0CA1178-9EB1-DE2E-DEB3-9A2C14E0985C}"/>
              </a:ext>
            </a:extLst>
          </p:cNvPr>
          <p:cNvSpPr txBox="1"/>
          <p:nvPr/>
        </p:nvSpPr>
        <p:spPr>
          <a:xfrm>
            <a:off x="576817" y="726960"/>
            <a:ext cx="10740112" cy="1427570"/>
          </a:xfrm>
          <a:prstGeom prst="rect">
            <a:avLst/>
          </a:prstGeom>
          <a:noFill/>
        </p:spPr>
        <p:txBody>
          <a:bodyPr wrap="square" rtlCol="0">
            <a:spAutoFit/>
          </a:bodyPr>
          <a:lstStyle/>
          <a:p>
            <a:pPr>
              <a:lnSpc>
                <a:spcPct val="150000"/>
              </a:lnSpc>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Classification Model Comparison:</a:t>
            </a:r>
          </a:p>
          <a:p>
            <a:pPr>
              <a:lnSpc>
                <a:spcPct val="150000"/>
              </a:lnSpc>
              <a:buClr>
                <a:srgbClr val="FF0000"/>
              </a:buClr>
            </a:pPr>
            <a:r>
              <a:rPr lang="en-US" sz="18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The fire occurrence prediction models analyzed meteorological conditions for </a:t>
            </a:r>
            <a:r>
              <a:rPr lang="en-US" sz="1800" dirty="0" err="1">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makingtheir</a:t>
            </a:r>
            <a:r>
              <a:rPr lang="en-US" sz="18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sz="1800" dirty="0" err="1">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forecasts.The</a:t>
            </a:r>
            <a:r>
              <a:rPr lang="en-US" sz="18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performance metrics for the models are outlined below: </a:t>
            </a:r>
          </a:p>
        </p:txBody>
      </p:sp>
      <p:pic>
        <p:nvPicPr>
          <p:cNvPr id="4" name="Picture 3">
            <a:extLst>
              <a:ext uri="{FF2B5EF4-FFF2-40B4-BE49-F238E27FC236}">
                <a16:creationId xmlns:a16="http://schemas.microsoft.com/office/drawing/2014/main" id="{F6AA3AC6-355D-9391-E16C-31E0CF37E755}"/>
              </a:ext>
            </a:extLst>
          </p:cNvPr>
          <p:cNvPicPr>
            <a:picLocks noChangeAspect="1"/>
          </p:cNvPicPr>
          <p:nvPr/>
        </p:nvPicPr>
        <p:blipFill>
          <a:blip r:embed="rId5"/>
          <a:stretch>
            <a:fillRect/>
          </a:stretch>
        </p:blipFill>
        <p:spPr>
          <a:xfrm>
            <a:off x="2909959" y="2154530"/>
            <a:ext cx="5354586" cy="1965186"/>
          </a:xfrm>
          <a:prstGeom prst="rect">
            <a:avLst/>
          </a:prstGeom>
        </p:spPr>
      </p:pic>
      <p:sp>
        <p:nvSpPr>
          <p:cNvPr id="7" name="TextBox 6">
            <a:extLst>
              <a:ext uri="{FF2B5EF4-FFF2-40B4-BE49-F238E27FC236}">
                <a16:creationId xmlns:a16="http://schemas.microsoft.com/office/drawing/2014/main" id="{50C689A6-8176-8307-F992-6CFE0AE18DBE}"/>
              </a:ext>
            </a:extLst>
          </p:cNvPr>
          <p:cNvSpPr txBox="1"/>
          <p:nvPr/>
        </p:nvSpPr>
        <p:spPr>
          <a:xfrm>
            <a:off x="576817" y="4290943"/>
            <a:ext cx="10976086" cy="1477328"/>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Analysis:</a:t>
            </a:r>
          </a:p>
          <a:p>
            <a:pPr marL="342900" indent="-342900">
              <a:buAutoNum type="arabicPeriod"/>
            </a:pPr>
            <a:r>
              <a:rPr lang="en-IN" sz="1800" dirty="0">
                <a:latin typeface="Times New Roman" panose="02020603050405020304" pitchFamily="18" charset="0"/>
                <a:cs typeface="Times New Roman" panose="02020603050405020304" pitchFamily="18" charset="0"/>
              </a:rPr>
              <a:t>The Random Forest Classifier demonstrated remarkable proficiency in managing non-linear relationships, achieving an accuracy rate of 88%.</a:t>
            </a:r>
          </a:p>
          <a:p>
            <a:r>
              <a:rPr lang="en-IN" sz="1800" dirty="0">
                <a:latin typeface="Times New Roman" panose="02020603050405020304" pitchFamily="18" charset="0"/>
                <a:cs typeface="Times New Roman" panose="02020603050405020304" pitchFamily="18" charset="0"/>
              </a:rPr>
              <a:t>2.   The Decision Tree Classifier exhibited performance characteristics akin to those of </a:t>
            </a:r>
            <a:r>
              <a:rPr lang="en-IN" sz="1800" dirty="0" err="1">
                <a:latin typeface="Times New Roman" panose="02020603050405020304" pitchFamily="18" charset="0"/>
                <a:cs typeface="Times New Roman" panose="02020603050405020304" pitchFamily="18" charset="0"/>
              </a:rPr>
              <a:t>theRandom</a:t>
            </a:r>
            <a:r>
              <a:rPr lang="en-IN" sz="1800" dirty="0">
                <a:latin typeface="Times New Roman" panose="02020603050405020304" pitchFamily="18" charset="0"/>
                <a:cs typeface="Times New Roman" panose="02020603050405020304" pitchFamily="18" charset="0"/>
              </a:rPr>
              <a:t> Forest, primarily due to its reduced likelihood of overfitting</a:t>
            </a:r>
            <a:r>
              <a:rPr lang="en-IN" dirty="0"/>
              <a:t>.</a:t>
            </a:r>
          </a:p>
        </p:txBody>
      </p:sp>
    </p:spTree>
    <p:extLst>
      <p:ext uri="{BB962C8B-B14F-4D97-AF65-F5344CB8AC3E}">
        <p14:creationId xmlns:p14="http://schemas.microsoft.com/office/powerpoint/2010/main" val="4222857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6D445-64C0-D672-2D46-FD5A511B80A8}"/>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AD276F6-3701-7DEA-EBBE-76333BF99E4F}"/>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15</a:t>
            </a:fld>
            <a:endParaRPr lang="en-US" sz="2000" dirty="0"/>
          </a:p>
        </p:txBody>
      </p:sp>
      <p:sp>
        <p:nvSpPr>
          <p:cNvPr id="5" name="Footer Placeholder 4">
            <a:extLst>
              <a:ext uri="{FF2B5EF4-FFF2-40B4-BE49-F238E27FC236}">
                <a16:creationId xmlns:a16="http://schemas.microsoft.com/office/drawing/2014/main" id="{C0B9AB9D-77D5-F5BB-FF7D-CFA8D9FC3470}"/>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52100CBA-1EFF-C6A0-985A-542AD1F9FB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E865D5E0-664F-88BB-DB24-418EDB2D5389}"/>
              </a:ext>
            </a:extLst>
          </p:cNvPr>
          <p:cNvPicPr>
            <a:picLocks noChangeAspect="1"/>
          </p:cNvPicPr>
          <p:nvPr/>
        </p:nvPicPr>
        <p:blipFill>
          <a:blip r:embed="rId4"/>
          <a:stretch>
            <a:fillRect/>
          </a:stretch>
        </p:blipFill>
        <p:spPr>
          <a:xfrm>
            <a:off x="0" y="5704366"/>
            <a:ext cx="1153634" cy="1153634"/>
          </a:xfrm>
          <a:prstGeom prst="rect">
            <a:avLst/>
          </a:prstGeom>
        </p:spPr>
      </p:pic>
      <p:sp>
        <p:nvSpPr>
          <p:cNvPr id="4" name="TextBox 3">
            <a:extLst>
              <a:ext uri="{FF2B5EF4-FFF2-40B4-BE49-F238E27FC236}">
                <a16:creationId xmlns:a16="http://schemas.microsoft.com/office/drawing/2014/main" id="{F89468A1-BAED-2219-041C-2558F810BD21}"/>
              </a:ext>
            </a:extLst>
          </p:cNvPr>
          <p:cNvSpPr txBox="1"/>
          <p:nvPr/>
        </p:nvSpPr>
        <p:spPr>
          <a:xfrm>
            <a:off x="576817" y="726960"/>
            <a:ext cx="11192040" cy="1107996"/>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Regression Model Comparison:</a:t>
            </a:r>
          </a:p>
          <a:p>
            <a:r>
              <a:rPr lang="en-IN" sz="24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Fire Weather Index (FWI) received predictions through usage of regression models. Below is a performance comparison:</a:t>
            </a:r>
            <a:endParaRPr lang="en-IN" sz="1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CD1CCEF-2801-1A0A-D173-15F86C6E33C3}"/>
              </a:ext>
            </a:extLst>
          </p:cNvPr>
          <p:cNvPicPr>
            <a:picLocks noChangeAspect="1"/>
          </p:cNvPicPr>
          <p:nvPr/>
        </p:nvPicPr>
        <p:blipFill>
          <a:blip r:embed="rId5"/>
          <a:stretch>
            <a:fillRect/>
          </a:stretch>
        </p:blipFill>
        <p:spPr>
          <a:xfrm>
            <a:off x="2625213" y="1907457"/>
            <a:ext cx="6843252" cy="2064775"/>
          </a:xfrm>
          <a:prstGeom prst="rect">
            <a:avLst/>
          </a:prstGeom>
        </p:spPr>
      </p:pic>
      <p:sp>
        <p:nvSpPr>
          <p:cNvPr id="10" name="TextBox 9">
            <a:extLst>
              <a:ext uri="{FF2B5EF4-FFF2-40B4-BE49-F238E27FC236}">
                <a16:creationId xmlns:a16="http://schemas.microsoft.com/office/drawing/2014/main" id="{9602A9F1-452A-C8F5-8620-4403BB27A33C}"/>
              </a:ext>
            </a:extLst>
          </p:cNvPr>
          <p:cNvSpPr txBox="1"/>
          <p:nvPr/>
        </p:nvSpPr>
        <p:spPr>
          <a:xfrm>
            <a:off x="576817" y="4193911"/>
            <a:ext cx="11192040" cy="1477328"/>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Analysis:</a:t>
            </a:r>
          </a:p>
          <a:p>
            <a:r>
              <a:rPr lang="en-IN" sz="1800" dirty="0">
                <a:latin typeface="Times New Roman" panose="02020603050405020304" pitchFamily="18" charset="0"/>
                <a:cs typeface="Times New Roman" panose="02020603050405020304" pitchFamily="18" charset="0"/>
              </a:rPr>
              <a:t>1. Random Forest Regressor demonstrated the most predictive ability by reaching an R² value of 0.92</a:t>
            </a:r>
          </a:p>
          <a:p>
            <a:r>
              <a:rPr lang="en-IN" sz="1800" dirty="0">
                <a:latin typeface="Times New Roman" panose="02020603050405020304" pitchFamily="18" charset="0"/>
                <a:cs typeface="Times New Roman" panose="02020603050405020304" pitchFamily="18" charset="0"/>
              </a:rPr>
              <a:t>2. Decision Tree Regressor showed good performance although it proved slightly weak to the data.</a:t>
            </a:r>
          </a:p>
          <a:p>
            <a:r>
              <a:rPr lang="en-IN" sz="1800" dirty="0">
                <a:latin typeface="Times New Roman" panose="02020603050405020304" pitchFamily="18" charset="0"/>
                <a:cs typeface="Times New Roman" panose="02020603050405020304" pitchFamily="18" charset="0"/>
              </a:rPr>
              <a:t>3. The R² score of Linear Regression proved to be the lowest indicating that wildfire prediction needs to use non-linear  modeling methods.</a:t>
            </a:r>
          </a:p>
        </p:txBody>
      </p:sp>
    </p:spTree>
    <p:extLst>
      <p:ext uri="{BB962C8B-B14F-4D97-AF65-F5344CB8AC3E}">
        <p14:creationId xmlns:p14="http://schemas.microsoft.com/office/powerpoint/2010/main" val="3420702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9E37C-748F-5802-784C-5FF402EE5D08}"/>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9E425CC8-8ED6-697D-8F77-C590210562AC}"/>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16</a:t>
            </a:fld>
            <a:endParaRPr lang="en-US" sz="2000" dirty="0"/>
          </a:p>
        </p:txBody>
      </p:sp>
      <p:sp>
        <p:nvSpPr>
          <p:cNvPr id="5" name="Footer Placeholder 4">
            <a:extLst>
              <a:ext uri="{FF2B5EF4-FFF2-40B4-BE49-F238E27FC236}">
                <a16:creationId xmlns:a16="http://schemas.microsoft.com/office/drawing/2014/main" id="{6CB1AC2F-7366-5DD9-030A-186CD5770191}"/>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9F5C06C2-6846-6F6C-1F2B-579AAC5BFE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AC71EB30-CE4C-ED37-852E-03755E698193}"/>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D8DB6220-62F9-2CDE-1452-6DA84D459AFC}"/>
              </a:ext>
            </a:extLst>
          </p:cNvPr>
          <p:cNvSpPr txBox="1"/>
          <p:nvPr/>
        </p:nvSpPr>
        <p:spPr>
          <a:xfrm>
            <a:off x="725944" y="1257902"/>
            <a:ext cx="10740112" cy="2980624"/>
          </a:xfrm>
          <a:prstGeom prst="rect">
            <a:avLst/>
          </a:prstGeom>
          <a:noFill/>
        </p:spPr>
        <p:txBody>
          <a:bodyPr wrap="square" rtlCol="0">
            <a:spAutoFit/>
          </a:bodyPr>
          <a:lstStyle/>
          <a:p>
            <a:pPr>
              <a:lnSpc>
                <a:spcPct val="150000"/>
              </a:lnSpc>
              <a:buClr>
                <a:srgbClr val="FF0000"/>
              </a:buClr>
            </a:pPr>
            <a:r>
              <a:rPr lang="en-US" sz="32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Conclusion:</a:t>
            </a:r>
          </a:p>
          <a:p>
            <a:pPr algn="just">
              <a:lnSpc>
                <a:spcPct val="150000"/>
              </a:lnSpc>
              <a:buClr>
                <a:srgbClr val="FF0000"/>
              </a:buClr>
            </a:pPr>
            <a:r>
              <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The project successfully predicts wildfires using machine learning and weather data. The Random Forest Classifier achieved 88% accuracy, and the Random Forest Regressor reached an R² score of 0.92. It proves that data science can help in early wildfire detection and disaster prevention effectively. </a:t>
            </a:r>
          </a:p>
        </p:txBody>
      </p:sp>
    </p:spTree>
    <p:extLst>
      <p:ext uri="{BB962C8B-B14F-4D97-AF65-F5344CB8AC3E}">
        <p14:creationId xmlns:p14="http://schemas.microsoft.com/office/powerpoint/2010/main" val="4212573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4FAE4-6D6A-365A-5E37-2829A24A5831}"/>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72C6D626-676C-4535-C049-E668373347F1}"/>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17</a:t>
            </a:fld>
            <a:endParaRPr lang="en-US" sz="2000" dirty="0"/>
          </a:p>
        </p:txBody>
      </p:sp>
      <p:sp>
        <p:nvSpPr>
          <p:cNvPr id="5" name="Footer Placeholder 4">
            <a:extLst>
              <a:ext uri="{FF2B5EF4-FFF2-40B4-BE49-F238E27FC236}">
                <a16:creationId xmlns:a16="http://schemas.microsoft.com/office/drawing/2014/main" id="{B1C37BE8-4A18-71D9-DA42-5251A2344EAD}"/>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20AB00BA-F05A-DCB3-CA85-8F98A715CB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63F8F91C-6B9D-4E6A-4F08-D5E9A7191393}"/>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A16F78DE-5C2F-F721-B09A-181EDEEBE49B}"/>
              </a:ext>
            </a:extLst>
          </p:cNvPr>
          <p:cNvSpPr txBox="1"/>
          <p:nvPr/>
        </p:nvSpPr>
        <p:spPr>
          <a:xfrm>
            <a:off x="3765754" y="2361400"/>
            <a:ext cx="4817807" cy="1067600"/>
          </a:xfrm>
          <a:prstGeom prst="rect">
            <a:avLst/>
          </a:prstGeom>
          <a:noFill/>
        </p:spPr>
        <p:txBody>
          <a:bodyPr wrap="square" rtlCol="0">
            <a:spAutoFit/>
          </a:bodyPr>
          <a:lstStyle/>
          <a:p>
            <a:pPr>
              <a:lnSpc>
                <a:spcPct val="150000"/>
              </a:lnSpc>
              <a:buClr>
                <a:srgbClr val="FF0000"/>
              </a:buClr>
            </a:pPr>
            <a:r>
              <a:rPr lang="en-US" sz="4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THANK YOU </a:t>
            </a:r>
          </a:p>
        </p:txBody>
      </p:sp>
    </p:spTree>
    <p:extLst>
      <p:ext uri="{BB962C8B-B14F-4D97-AF65-F5344CB8AC3E}">
        <p14:creationId xmlns:p14="http://schemas.microsoft.com/office/powerpoint/2010/main" val="1952603428"/>
      </p:ext>
    </p:extLst>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620</TotalTime>
  <Words>924</Words>
  <Application>Microsoft Office PowerPoint</Application>
  <PresentationFormat>Widescreen</PresentationFormat>
  <Paragraphs>135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 New Roman</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 MECH 05</dc:creator>
  <cp:lastModifiedBy>Bittu Vishwas</cp:lastModifiedBy>
  <cp:revision>39</cp:revision>
  <dcterms:created xsi:type="dcterms:W3CDTF">2019-12-31T08:10:00Z</dcterms:created>
  <dcterms:modified xsi:type="dcterms:W3CDTF">2025-10-25T05:16:39Z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1033-12.2.0.20326</vt:lpwstr>
  </property>
  <property fmtid="{D5CDD505-2E9C-101B-9397-08002B2CF9AE}" pid="3" name="ICV">
    <vt:lpwstr>23F6C98E8B5E4FDEB40C779671CDB3CD_12</vt:lpwstr>
  </property>
</Properties>
</file>